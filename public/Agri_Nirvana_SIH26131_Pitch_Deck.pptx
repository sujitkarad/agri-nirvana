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A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SMART INDIA HACKATHON 2026 • SOFTWARE EDITION</a:t>
            </a:r>
          </a:p>
          <a:p>
            <a:pPr>
              <a:defRPr sz="4800" b="1">
                <a:solidFill>
                  <a:srgbClr val="34D399"/>
                </a:solidFill>
              </a:defRPr>
            </a:pPr>
            <a:r>
              <a:t>AGRI NIRVANA</a:t>
            </a:r>
          </a:p>
          <a:p>
            <a:pPr>
              <a:defRPr sz="2000">
                <a:solidFill>
                  <a:srgbClr val="E2E8F0"/>
                </a:solidFill>
              </a:defRPr>
            </a:pPr>
            <a:r>
              <a:t>Early Detection &amp; Management of Crop Diseases and Pest Infestations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Problem Statement ID: SIH26131 | Organization: Government of Maharashtra (Dept. of Agriculture)</a:t>
            </a:r>
          </a:p>
          <a:p>
            <a:pPr>
              <a:defRPr sz="1300">
                <a:solidFill>
                  <a:srgbClr val="06B6D4"/>
                </a:solidFill>
              </a:defRPr>
            </a:pPr>
            <a:r>
              <a:t>Key Innovation: 100% Self-Hosted 2-Stage PyTorch ML Pipeline + OpenCV HSV Severity + Drone Spot-Spray Telemetry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A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SMART INDIA HACKATHON 2026 • PS ID: SIH26131 • SLIDE 02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Problem Context &amp; 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THE GROUND REALITY (MAHARASHTRA FARMERS)</a:t>
            </a:r>
          </a:p>
          <a:p>
            <a:pPr>
              <a:defRPr sz="1300">
                <a:solidFill>
                  <a:srgbClr val="E2E8F0"/>
                </a:solidFill>
              </a:defRPr>
            </a:pPr>
            <a:r>
              <a:t>• Manual &amp; Delayed Scouting: Disease detection happens only after 30-40% defoliation.</a:t>
            </a:r>
          </a:p>
          <a:p>
            <a:pPr>
              <a:defRPr sz="1300">
                <a:solidFill>
                  <a:srgbClr val="E2E8F0"/>
                </a:solidFill>
              </a:defRPr>
            </a:pPr>
            <a:r>
              <a:t>• Indiscriminate Chemical Overuse: Blanket spraying increases input costs by 35% and pollutes soil.</a:t>
            </a:r>
          </a:p>
          <a:p>
            <a:pPr>
              <a:defRPr sz="1300">
                <a:solidFill>
                  <a:srgbClr val="E2E8F0"/>
                </a:solidFill>
              </a:defRPr>
            </a:pPr>
            <a:r>
              <a:t>• Commercial Cloud Reliance: Paid APIs fail in low-connectivity rural belts (Vidarbha / Marathwada).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THE AGRI NIRVANA SOLUTION</a:t>
            </a:r>
          </a:p>
          <a:p>
            <a:pPr>
              <a:defRPr sz="1300">
                <a:solidFill>
                  <a:srgbClr val="E2E8F0"/>
                </a:solidFill>
              </a:defRPr>
            </a:pPr>
            <a:r>
              <a:t>• 100% Self-Hosted ML Pipeline: 0 third-party API costs; runs locally on PyTorch CPU/GPU.</a:t>
            </a:r>
          </a:p>
          <a:p>
            <a:pPr>
              <a:defRPr sz="1300">
                <a:solidFill>
                  <a:srgbClr val="E2E8F0"/>
                </a:solidFill>
              </a:defRPr>
            </a:pPr>
            <a:r>
              <a:t>• 2-Stage Neural Gate Architecture: Stage A plant gate rejects non-crop photos before Stage B 38-class classification.</a:t>
            </a:r>
          </a:p>
          <a:p>
            <a:pPr>
              <a:defRPr sz="1300">
                <a:solidFill>
                  <a:srgbClr val="E2E8F0"/>
                </a:solidFill>
              </a:defRPr>
            </a:pPr>
            <a:r>
              <a:t>• Quantitative HSV Damage Area: Measures exact necrotic brown/yellow leaf tissue percentage vs healthy green.</a:t>
            </a:r>
          </a:p>
          <a:p>
            <a:pPr>
              <a:defRPr sz="1300">
                <a:solidFill>
                  <a:srgbClr val="E2E8F0"/>
                </a:solidFill>
              </a:defRPr>
            </a:pPr>
            <a:r>
              <a:t>• Targeted Spot-Spray Drone Telemetry: Generates KML flight waypoints to spray only infected crop patches.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A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SMART INDIA HACKATHON 2026 • PS ID: SIH26131 • SLIDE 03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2-Stage Machine Learning Pipeline &amp;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1">
                <a:solidFill>
                  <a:srgbClr val="34D399"/>
                </a:solidFill>
              </a:defRPr>
            </a:pPr>
            <a:r>
              <a:t>▶ STAGE A: PLANT VALIDATOR GATE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    MobileNetV2 (ImageNet-1K) mapped against ~75 plant/vegetation class names. Instantly rejects non-plant images (cars, faces, equipment). Latency: ~50-80ms CPU.</a:t>
            </a:r>
          </a:p>
          <a:p>
            <a:pPr>
              <a:defRPr sz="1400" b="1">
                <a:solidFill>
                  <a:srgbClr val="34D399"/>
                </a:solidFill>
              </a:defRPr>
            </a:pPr>
            <a:r>
              <a:t>▶ STAGE B: DISEASE CLASSIFIER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    PlantVillage MobileNetV2 fine-tuned on 38 pathogen classes across 14 crop species. Outputs exact disease class and neural confidence score. Latency: ~50-100ms CPU.</a:t>
            </a:r>
          </a:p>
          <a:p>
            <a:pPr>
              <a:defRPr sz="1400" b="1">
                <a:solidFill>
                  <a:srgbClr val="34D399"/>
                </a:solidFill>
              </a:defRPr>
            </a:pPr>
            <a:r>
              <a:t>▶ HSV COLOR SEVERITY SEGMENTATION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    OpenCV color space thresholding segments healthy green foliage vs. necrotic brown/yellow spot pixels to calculate exact foliage damage %.</a:t>
            </a:r>
          </a:p>
          <a:p>
            <a:pPr>
              <a:defRPr sz="1400" b="1">
                <a:solidFill>
                  <a:srgbClr val="34D399"/>
                </a:solidFill>
              </a:defRPr>
            </a:pPr>
            <a:r>
              <a:t>▶ 3-TIER AGRONOMIC ADVISORY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    Bio-control (Trichoderma/Neem), Targeted Chemical (with Pre-Harvest Interval safety days), and Cultural prevention protocols.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A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SMART INDIA HACKATHON 2026 • PS ID: SIH26131 • SLIDE 04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Autonomous Drone Spot-Spray Telemetry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PRECISION KML &amp; WAYPOINT MISSION EXPORT</a:t>
            </a:r>
          </a:p>
          <a:p>
            <a:pPr>
              <a:defRPr sz="1400">
                <a:solidFill>
                  <a:srgbClr val="E2E8F0"/>
                </a:solidFill>
              </a:defRPr>
            </a:pPr>
            <a:r>
              <a:t>• Spot-Spray vs Blanket Spray: Calculates exact GPS waypoints from diagnostic lesion coordinates, reducing chemical usage by up to 80%.</a:t>
            </a:r>
          </a:p>
          <a:p>
            <a:pPr>
              <a:defRPr sz="1400">
                <a:solidFill>
                  <a:srgbClr val="E2E8F0"/>
                </a:solidFill>
              </a:defRPr>
            </a:pPr>
            <a:r>
              <a:t>• Standard Flight Telemetry: Configures target altitude (3.5m), spray flow rate (16 L/ha), and flight path.</a:t>
            </a:r>
          </a:p>
          <a:p>
            <a:pPr>
              <a:defRPr sz="1400">
                <a:solidFill>
                  <a:srgbClr val="E2E8F0"/>
                </a:solidFill>
              </a:defRPr>
            </a:pPr>
            <a:r>
              <a:t>• DJI &amp; QGroundControl Compatibility: Exports ready-to-fly .kml and .waypoint files directly from the diagnostic hub.</a:t>
            </a:r>
          </a:p>
          <a:p>
            <a:pPr>
              <a:defRPr sz="1400">
                <a:solidFill>
                  <a:srgbClr val="E2E8F0"/>
                </a:solidFill>
              </a:defRPr>
            </a:pPr>
            <a:r>
              <a:t>• Maharashtra CHC Integration: Enables local Custom Hiring Centers (CHCs) to provide precision spraying services to smallholder farmers.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A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SMART INDIA HACKATHON 2026 • PS ID: SIH26131 • SLIDE 05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Social Impact, Feasibility &amp; Implementation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500" b="1">
                <a:solidFill>
                  <a:srgbClr val="34D399"/>
                </a:solidFill>
              </a:defRPr>
            </a:pPr>
            <a:r>
              <a:t>✓ Zero API Recurring Billing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    100% open-source self-hosted model means zero per-scan API billing for state agriculture departments.</a:t>
            </a:r>
          </a:p>
          <a:p>
            <a:pPr>
              <a:defRPr sz="1500" b="1">
                <a:solidFill>
                  <a:srgbClr val="34D399"/>
                </a:solidFill>
              </a:defRPr>
            </a:pPr>
            <a:r>
              <a:t>✓ &lt; 300ms CPU Inference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    Low footprint (~28MB total model weights) enables deployment on low-cost edge devices or Raspberry Pi 4.</a:t>
            </a:r>
          </a:p>
          <a:p>
            <a:pPr>
              <a:defRPr sz="1500" b="1">
                <a:solidFill>
                  <a:srgbClr val="34D399"/>
                </a:solidFill>
              </a:defRPr>
            </a:pPr>
            <a:r>
              <a:t>✓ Maharashtra Cash Crop Presets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    Supports Cotton (कापूस), Soybean (सोयाबीन), Sugarcane (ऊस), Onion (कांदा), Grapes (द्राक्षे), Pomegranate (डाळिंब), Paddy (भात), Tomato (टोमॅटो), Potato (बटाटा), Maize (मका).</a:t>
            </a:r>
          </a:p>
          <a:p>
            <a:pPr>
              <a:defRPr sz="1500" b="1">
                <a:solidFill>
                  <a:srgbClr val="34D399"/>
                </a:solidFill>
              </a:defRPr>
            </a:pPr>
            <a:r>
              <a:t>✓ State Portal Integration Ready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    Plugs into Maharashtra Government CROPSAP / MahaVISTAAR pest surveillance frameworks for district-wide outbreak heatmaps.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